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HK Grotesk Semi-Bold" charset="1" panose="00000700000000000000"/>
      <p:regular r:id="rId13"/>
    </p:embeddedFont>
    <p:embeddedFont>
      <p:font typeface="HK Grotesk Medium Italics" charset="1" panose="00000600000000000000"/>
      <p:regular r:id="rId14"/>
    </p:embeddedFont>
    <p:embeddedFont>
      <p:font typeface="HK Grotesk Medium" charset="1" panose="00000600000000000000"/>
      <p:regular r:id="rId15"/>
    </p:embeddedFont>
    <p:embeddedFont>
      <p:font typeface="HK Grotesk" charset="1" panose="00000500000000000000"/>
      <p:regular r:id="rId16"/>
    </p:embeddedFon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15" Target="../media/image17.png" Type="http://schemas.openxmlformats.org/officeDocument/2006/relationships/image"/><Relationship Id="rId16" Target="../media/image18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38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https://networkx.org/documentation/stable/" TargetMode="External" Type="http://schemas.openxmlformats.org/officeDocument/2006/relationships/hyperlink"/><Relationship Id="rId23" Target="https://qdrant.tech/documentation/" TargetMode="External" Type="http://schemas.openxmlformats.org/officeDocument/2006/relationships/hyperlink"/><Relationship Id="rId24" Target="https://github.com/beir-cellar/beir" TargetMode="External" Type="http://schemas.openxmlformats.org/officeDocument/2006/relationships/hyperlink"/><Relationship Id="rId25" Target="https://fastapi.tiangolo.com" TargetMode="External" Type="http://schemas.openxmlformats.org/officeDocument/2006/relationships/hyperlink"/><Relationship Id="rId26" Target="https://sbert.net" TargetMode="External" Type="http://schemas.openxmlformats.org/officeDocument/2006/relationships/hyperlink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5244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3375" y="1674785"/>
            <a:ext cx="8240670" cy="20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2"/>
              </a:lnSpc>
            </a:pPr>
            <a:r>
              <a:rPr lang="en-US" sz="15272" b="true">
                <a:solidFill>
                  <a:srgbClr val="F6F6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MORPHE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262" y="3557091"/>
            <a:ext cx="7088676" cy="103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 spc="-33" b="true">
                <a:solidFill>
                  <a:srgbClr val="9159E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Memory-Oriented Reconfigurable Plasticity and Hierarchical Evolution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8474" y="4880936"/>
            <a:ext cx="7767465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i="true" spc="-22">
                <a:solidFill>
                  <a:srgbClr val="F6F6F6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Memory that adapts its structure as retrieval needs evolve.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426" y="5763265"/>
            <a:ext cx="7272222" cy="12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F6F6F6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MORPHE is an adaptive memory system that organizes AI agent memories into a graph and experimentally evaluates structural changes to retrieval.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3400" y="7981950"/>
            <a:ext cx="8191500" cy="3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1874" spc="-18" strike="noStrike" u="none">
                <a:solidFill>
                  <a:srgbClr val="F6F6F6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Nitesh Tanawade   |   Pranav Tanawade   |   Pratham Shid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8778386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2080" y="9070841"/>
            <a:ext cx="590479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5039" y="9070841"/>
            <a:ext cx="303881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true">
                <a:solidFill>
                  <a:srgbClr val="9159E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3400" y="7439025"/>
            <a:ext cx="7620000" cy="47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4"/>
              </a:lnSpc>
              <a:spcBef>
                <a:spcPct val="0"/>
              </a:spcBef>
            </a:pPr>
            <a:r>
              <a:rPr lang="en-US" b="true" sz="2549" spc="-24" strike="noStrike" u="none">
                <a:solidFill>
                  <a:srgbClr val="9159E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 AlphaQ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0650" y="567913"/>
            <a:ext cx="11192039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spc="-58" b="true">
                <a:solidFill>
                  <a:srgbClr val="0E142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Storing information is not enough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9359" y="1441075"/>
            <a:ext cx="9911953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22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As memory grows, fixed structures struggle to deliver what exists.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0280" y="2047132"/>
            <a:ext cx="9907918" cy="56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17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AI systems accumulate knowledge across projects, preferences, conversations, and documentation. When memory structures stay fixed, retrieval becomes inefficient and valuable information is missed.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776725"/>
            <a:ext cx="3937608" cy="1945894"/>
          </a:xfrm>
          <a:custGeom>
            <a:avLst/>
            <a:gdLst/>
            <a:ahLst/>
            <a:cxnLst/>
            <a:rect r="r" b="b" t="t" l="l"/>
            <a:pathLst>
              <a:path h="1945894" w="3937608">
                <a:moveTo>
                  <a:pt x="0" y="0"/>
                </a:moveTo>
                <a:lnTo>
                  <a:pt x="3937608" y="0"/>
                </a:lnTo>
                <a:lnTo>
                  <a:pt x="393760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48081" y="3321654"/>
            <a:ext cx="1816115" cy="27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Growing memory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1065" y="3703491"/>
            <a:ext cx="2517742" cy="5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Knowledge accumulates across sources and topics.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353244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98574" y="2776725"/>
            <a:ext cx="3937608" cy="1945894"/>
          </a:xfrm>
          <a:custGeom>
            <a:avLst/>
            <a:gdLst/>
            <a:ahLst/>
            <a:cxnLst/>
            <a:rect r="r" b="b" t="t" l="l"/>
            <a:pathLst>
              <a:path h="1945894" w="3937608">
                <a:moveTo>
                  <a:pt x="0" y="0"/>
                </a:moveTo>
                <a:lnTo>
                  <a:pt x="3937608" y="0"/>
                </a:lnTo>
                <a:lnTo>
                  <a:pt x="393760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01381" y="3097280"/>
            <a:ext cx="285325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893" spc="-38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8308" y="3321654"/>
            <a:ext cx="2170773" cy="27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Overloaded modules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6287" y="3703491"/>
            <a:ext cx="2372835" cy="5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Fixed structures become crowded and inefficient.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6488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1818" y="2776725"/>
            <a:ext cx="3937608" cy="1945894"/>
          </a:xfrm>
          <a:custGeom>
            <a:avLst/>
            <a:gdLst/>
            <a:ahLst/>
            <a:cxnLst/>
            <a:rect r="r" b="b" t="t" l="l"/>
            <a:pathLst>
              <a:path h="1945894" w="3937608">
                <a:moveTo>
                  <a:pt x="0" y="0"/>
                </a:moveTo>
                <a:lnTo>
                  <a:pt x="3937608" y="0"/>
                </a:lnTo>
                <a:lnTo>
                  <a:pt x="393760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67998" y="3097280"/>
            <a:ext cx="285325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893" spc="-38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3338" y="3186106"/>
            <a:ext cx="1650528" cy="54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Missed relevant memories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3439" y="3869160"/>
            <a:ext cx="2640431" cy="5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The right information exists but isn't retrieved.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59732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716000" y="2776725"/>
            <a:ext cx="3926670" cy="1945894"/>
          </a:xfrm>
          <a:custGeom>
            <a:avLst/>
            <a:gdLst/>
            <a:ahLst/>
            <a:cxnLst/>
            <a:rect r="r" b="b" t="t" l="l"/>
            <a:pathLst>
              <a:path h="1945894" w="3926670">
                <a:moveTo>
                  <a:pt x="0" y="0"/>
                </a:moveTo>
                <a:lnTo>
                  <a:pt x="3926670" y="0"/>
                </a:lnTo>
                <a:lnTo>
                  <a:pt x="3926670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034615" y="3097280"/>
            <a:ext cx="285325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893" spc="-38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53312" y="3321654"/>
            <a:ext cx="1993799" cy="27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Inefficient retrieval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6464" y="3703499"/>
            <a:ext cx="2678638" cy="5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Queries are routed poorly, wasting time and resources.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26574" y="4711687"/>
            <a:ext cx="17216096" cy="218640"/>
          </a:xfrm>
          <a:custGeom>
            <a:avLst/>
            <a:gdLst/>
            <a:ahLst/>
            <a:cxnLst/>
            <a:rect r="r" b="b" t="t" l="l"/>
            <a:pathLst>
              <a:path h="218640" w="17216096">
                <a:moveTo>
                  <a:pt x="0" y="0"/>
                </a:moveTo>
                <a:lnTo>
                  <a:pt x="17216096" y="0"/>
                </a:lnTo>
                <a:lnTo>
                  <a:pt x="1721609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67457" y="5119231"/>
            <a:ext cx="2190261" cy="2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1916" spc="-18">
                <a:solidFill>
                  <a:srgbClr val="6E53B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WHO IS AFFECTED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9395" y="5721664"/>
            <a:ext cx="3996399" cy="2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 assistants with long-term memory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4680" y="7589359"/>
            <a:ext cx="5467952" cy="63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Applications that repeatedly access information spread across topics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175196" y="5138034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694379" y="5119550"/>
            <a:ext cx="4766034" cy="2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1916" spc="-18" strike="noStrike" u="none">
                <a:solidFill>
                  <a:srgbClr val="6E53B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EVIDENCE FROM MORPHE EXPERIMENTS*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612708" y="5356674"/>
            <a:ext cx="3500096" cy="3651284"/>
          </a:xfrm>
          <a:custGeom>
            <a:avLst/>
            <a:gdLst/>
            <a:ahLst/>
            <a:cxnLst/>
            <a:rect r="r" b="b" t="t" l="l"/>
            <a:pathLst>
              <a:path h="3651284" w="3500096">
                <a:moveTo>
                  <a:pt x="0" y="0"/>
                </a:moveTo>
                <a:lnTo>
                  <a:pt x="3500096" y="0"/>
                </a:lnTo>
                <a:lnTo>
                  <a:pt x="350009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033441" y="5587601"/>
            <a:ext cx="327804" cy="7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394" spc="-42">
                <a:solidFill>
                  <a:srgbClr val="0E142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11421" y="6288639"/>
            <a:ext cx="2529822" cy="215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Fixed graph routing lowered nDCG@10 versus global dense retrieval by </a:t>
            </a:r>
            <a:r>
              <a:rPr lang="en-US" sz="1863" spc="-18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0.094</a:t>
            </a: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on SciFact, </a:t>
            </a:r>
            <a:r>
              <a:rPr lang="en-US" sz="1863" spc="-18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0.039</a:t>
            </a: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on NFCorpus and </a:t>
            </a:r>
            <a:r>
              <a:rPr lang="en-US" sz="1863" spc="-18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0.010</a:t>
            </a:r>
            <a:r>
              <a:rPr lang="en-US" sz="1863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on ArguAna (internal partition).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101866" y="5356674"/>
            <a:ext cx="3489158" cy="3651284"/>
          </a:xfrm>
          <a:custGeom>
            <a:avLst/>
            <a:gdLst/>
            <a:ahLst/>
            <a:cxnLst/>
            <a:rect r="r" b="b" t="t" l="l"/>
            <a:pathLst>
              <a:path h="3651284" w="3489158">
                <a:moveTo>
                  <a:pt x="0" y="0"/>
                </a:moveTo>
                <a:lnTo>
                  <a:pt x="3489158" y="0"/>
                </a:lnTo>
                <a:lnTo>
                  <a:pt x="348915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623175" y="5587601"/>
            <a:ext cx="327804" cy="7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394" spc="-42">
                <a:solidFill>
                  <a:srgbClr val="0E142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31641" y="6279066"/>
            <a:ext cx="2160142" cy="192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Graph routing cut the candidate pool by </a:t>
            </a:r>
            <a:r>
              <a:rPr lang="en-US" sz="2047" spc="-19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77</a:t>
            </a: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to </a:t>
            </a:r>
            <a:r>
              <a:rPr lang="en-US" sz="2047" spc="-19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89</a:t>
            </a: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percent, but this gave no quality or latency advantage.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580086" y="5356674"/>
            <a:ext cx="3062584" cy="3651284"/>
          </a:xfrm>
          <a:custGeom>
            <a:avLst/>
            <a:gdLst/>
            <a:ahLst/>
            <a:cxnLst/>
            <a:rect r="r" b="b" t="t" l="l"/>
            <a:pathLst>
              <a:path h="3651284" w="3062584">
                <a:moveTo>
                  <a:pt x="0" y="0"/>
                </a:moveTo>
                <a:lnTo>
                  <a:pt x="3062584" y="0"/>
                </a:lnTo>
                <a:lnTo>
                  <a:pt x="306258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982677" y="6279066"/>
            <a:ext cx="1919764" cy="224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On SciFact the fixed graph left </a:t>
            </a:r>
            <a:r>
              <a:rPr lang="en-US" sz="2047" spc="-19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66</a:t>
            </a: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relevant documents in modules it never searched, across </a:t>
            </a:r>
            <a:r>
              <a:rPr lang="en-US" sz="2047" spc="-19" b="true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64</a:t>
            </a:r>
            <a:r>
              <a:rPr lang="en-US" sz="2047" spc="-19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test queries.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7347" y="9110332"/>
            <a:ext cx="7201240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0E142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* Results of MORPHE's own BEIR experiments, not industry-wide statistics.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537952" y="9642013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7064633" y="9719975"/>
            <a:ext cx="803672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22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PS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3912" y="6369281"/>
            <a:ext cx="5544785" cy="2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Agentic applications with growing knowledge bases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46475" y="6986775"/>
            <a:ext cx="4288393" cy="2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 b="true">
                <a:solidFill>
                  <a:srgbClr val="0E142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Retrieval-enhanced generation systems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62570" y="9719975"/>
            <a:ext cx="4768453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254" spc="766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MORPHE   |   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998597" y="5587601"/>
            <a:ext cx="327804" cy="7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394" spc="-42">
                <a:solidFill>
                  <a:srgbClr val="0E142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7608" y="3097280"/>
            <a:ext cx="285325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893" spc="-38">
                <a:solidFill>
                  <a:srgbClr val="6E53B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2925" y="685800"/>
            <a:ext cx="8572500" cy="720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161D3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1705390"/>
            <a:ext cx="7415828" cy="655919"/>
          </a:xfrm>
          <a:custGeom>
            <a:avLst/>
            <a:gdLst/>
            <a:ahLst/>
            <a:cxnLst/>
            <a:rect r="r" b="b" t="t" l="l"/>
            <a:pathLst>
              <a:path h="655919" w="7415828">
                <a:moveTo>
                  <a:pt x="0" y="0"/>
                </a:moveTo>
                <a:lnTo>
                  <a:pt x="7415828" y="0"/>
                </a:lnTo>
                <a:lnTo>
                  <a:pt x="7415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4039" y="1993297"/>
            <a:ext cx="7048500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b="true" sz="2387" spc="-23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Memory organization as a testable design decision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647950"/>
            <a:ext cx="2962652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6"/>
              </a:lnSpc>
              <a:spcBef>
                <a:spcPct val="0"/>
              </a:spcBef>
            </a:pPr>
            <a:r>
              <a:rPr lang="en-US" b="true" sz="1916" spc="-18" strike="noStrike" u="none">
                <a:solidFill>
                  <a:srgbClr val="5F42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Graph-structured memory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2952750"/>
            <a:ext cx="7239000" cy="22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500" spc="-30" strike="noStrike" u="none">
                <a:solidFill>
                  <a:srgbClr val="374151"/>
                </a:solidFill>
                <a:latin typeface="HK Grotesk"/>
                <a:ea typeface="HK Grotesk"/>
                <a:cs typeface="HK Grotesk"/>
                <a:sym typeface="HK Grotesk"/>
              </a:rPr>
              <a:t>Memories live in modules linked by a hierarchy and co-access edges.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3562350"/>
            <a:ext cx="3254566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6"/>
              </a:lnSpc>
              <a:spcBef>
                <a:spcPct val="0"/>
              </a:spcBef>
            </a:pPr>
            <a:r>
              <a:rPr lang="en-US" b="true" sz="1916" spc="-18" strike="noStrike" u="none">
                <a:solidFill>
                  <a:srgbClr val="5F42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Graph-guided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3867150"/>
            <a:ext cx="7239000" cy="22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500" spc="-30" strike="noStrike" u="none">
                <a:solidFill>
                  <a:srgbClr val="374151"/>
                </a:solidFill>
                <a:latin typeface="HK Grotesk"/>
                <a:ea typeface="HK Grotesk"/>
                <a:cs typeface="HK Grotesk"/>
                <a:sym typeface="HK Grotesk"/>
              </a:rPr>
              <a:t>Four strategies compared: global, fixed graph, progressive, soft routing.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4781550"/>
            <a:ext cx="7239000" cy="22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500" spc="-30" strike="noStrike" u="none">
                <a:solidFill>
                  <a:srgbClr val="374151"/>
                </a:solidFill>
                <a:latin typeface="HK Grotesk"/>
                <a:ea typeface="HK Grotesk"/>
                <a:cs typeface="HK Grotesk"/>
                <a:sym typeface="HK Grotesk"/>
              </a:rPr>
              <a:t>Split, merge and shortcut changes are proposed from real usage.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5391150"/>
            <a:ext cx="3523336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6"/>
              </a:lnSpc>
              <a:spcBef>
                <a:spcPct val="0"/>
              </a:spcBef>
            </a:pPr>
            <a:r>
              <a:rPr lang="en-US" b="true" sz="1916" spc="-18" strike="noStrike" u="none">
                <a:solidFill>
                  <a:srgbClr val="5F42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Benchmark-validated changes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5695950"/>
            <a:ext cx="7239000" cy="22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500" spc="-37" strike="noStrike" u="none">
                <a:solidFill>
                  <a:srgbClr val="374151"/>
                </a:solidFill>
                <a:latin typeface="HK Grotesk"/>
                <a:ea typeface="HK Grotesk"/>
                <a:cs typeface="HK Grotesk"/>
                <a:sym typeface="HK Grotesk"/>
              </a:rPr>
              <a:t>Candidates are evaluated in a sandbox before any commit.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6229350"/>
            <a:ext cx="2987425" cy="32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8"/>
              </a:lnSpc>
              <a:spcBef>
                <a:spcPct val="0"/>
              </a:spcBef>
            </a:pPr>
            <a:r>
              <a:rPr lang="en-US" b="true" sz="1863" spc="-46" strike="noStrike" u="none">
                <a:solidFill>
                  <a:srgbClr val="5E42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Versioning and rollback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600" y="6610350"/>
            <a:ext cx="7239000" cy="22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500" spc="-37" strike="noStrike" u="none">
                <a:solidFill>
                  <a:srgbClr val="374151"/>
                </a:solidFill>
                <a:latin typeface="HK Grotesk"/>
                <a:ea typeface="HK Grotesk"/>
                <a:cs typeface="HK Grotesk"/>
                <a:sym typeface="HK Grotesk"/>
              </a:rPr>
              <a:t>Checksummed architecture versions; any version can be restored.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748" y="9693155"/>
            <a:ext cx="4762500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  <a:spcBef>
                <a:spcPct val="0"/>
              </a:spcBef>
            </a:pPr>
            <a:r>
              <a:rPr lang="en-US" b="true" sz="2047" spc="818" strike="noStrike" u="non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MORPHE   |   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537952" y="9642013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0600" y="4476750"/>
            <a:ext cx="5715000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6"/>
              </a:lnSpc>
              <a:spcBef>
                <a:spcPct val="0"/>
              </a:spcBef>
            </a:pPr>
            <a:r>
              <a:rPr lang="en-US" b="true" sz="1916" spc="-18" strike="noStrike" u="none">
                <a:solidFill>
                  <a:srgbClr val="5F42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Adaptive restructuring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31617" y="9693155"/>
            <a:ext cx="521854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66"/>
              </a:lnSpc>
            </a:pPr>
            <a:r>
              <a:rPr lang="en-US" sz="2047" spc="-5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PS 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66750" y="7191375"/>
            <a:ext cx="95250" cy="704850"/>
            <a:chOff x="0" y="0"/>
            <a:chExt cx="12700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0600" y="7210425"/>
            <a:ext cx="7239000" cy="27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950" b="true">
                <a:solidFill>
                  <a:srgbClr val="5F42C2"/>
                </a:solidFill>
                <a:latin typeface="Arimo Bold"/>
                <a:ea typeface="Arimo Bold"/>
                <a:cs typeface="Arimo Bold"/>
                <a:sym typeface="Arimo Bold"/>
              </a:rPr>
              <a:t>Observable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" y="7515225"/>
            <a:ext cx="7239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Graph Explorer, Query Playground, Benchmarks and Versions pages.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6750" y="8105775"/>
            <a:ext cx="95250" cy="704850"/>
            <a:chOff x="0" y="0"/>
            <a:chExt cx="127000" cy="939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90600" y="8124825"/>
            <a:ext cx="7239000" cy="27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950" b="true">
                <a:solidFill>
                  <a:srgbClr val="5F42C2"/>
                </a:solidFill>
                <a:latin typeface="Arimo Bold"/>
                <a:ea typeface="Arimo Bold"/>
                <a:cs typeface="Arimo Bold"/>
                <a:sym typeface="Arimo Bold"/>
              </a:rPr>
              <a:t>Reproducible benchmarking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0600" y="8429625"/>
            <a:ext cx="7239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BEIR harness with paired statistics and frozen baselines.</a:t>
            </a:r>
          </a:p>
        </p:txBody>
      </p:sp>
      <p:sp>
        <p:nvSpPr>
          <p:cNvPr name="Freeform 30" id="30" descr="MORPHE Graph Explorer screenshot showing the module graph"/>
          <p:cNvSpPr/>
          <p:nvPr/>
        </p:nvSpPr>
        <p:spPr>
          <a:xfrm flipH="false" flipV="false" rot="0">
            <a:off x="10096500" y="571500"/>
            <a:ext cx="6667500" cy="3705225"/>
          </a:xfrm>
          <a:custGeom>
            <a:avLst/>
            <a:gdLst/>
            <a:ahLst/>
            <a:cxnLst/>
            <a:rect r="r" b="b" t="t" l="l"/>
            <a:pathLst>
              <a:path h="3705225" w="6667500">
                <a:moveTo>
                  <a:pt x="0" y="0"/>
                </a:moveTo>
                <a:lnTo>
                  <a:pt x="6667500" y="0"/>
                </a:lnTo>
                <a:lnTo>
                  <a:pt x="6667500" y="3705225"/>
                </a:lnTo>
                <a:lnTo>
                  <a:pt x="0" y="3705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" t="0" r="-64" b="0"/>
            </a:stretch>
          </a:blipFill>
        </p:spPr>
      </p:sp>
      <p:sp>
        <p:nvSpPr>
          <p:cNvPr name="Freeform 31" id="31" descr="MORPHE Query Playground screenshot showing a fixed-graph retrieval trace"/>
          <p:cNvSpPr/>
          <p:nvPr/>
        </p:nvSpPr>
        <p:spPr>
          <a:xfrm flipH="false" flipV="false" rot="0">
            <a:off x="10096500" y="4714875"/>
            <a:ext cx="6667500" cy="3848100"/>
          </a:xfrm>
          <a:custGeom>
            <a:avLst/>
            <a:gdLst/>
            <a:ahLst/>
            <a:cxnLst/>
            <a:rect r="r" b="b" t="t" l="l"/>
            <a:pathLst>
              <a:path h="3848100" w="6667500">
                <a:moveTo>
                  <a:pt x="0" y="0"/>
                </a:moveTo>
                <a:lnTo>
                  <a:pt x="6667500" y="0"/>
                </a:lnTo>
                <a:lnTo>
                  <a:pt x="6667500" y="3848100"/>
                </a:lnTo>
                <a:lnTo>
                  <a:pt x="0" y="3848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7" t="0" r="-77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096500" y="4295775"/>
            <a:ext cx="6667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Graph Explorer: module graph laid out from the real hierarchy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6500" y="8582025"/>
            <a:ext cx="6667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Query Playground: fixed-graph retrieval trace on one query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66750" y="2619375"/>
            <a:ext cx="95250" cy="704850"/>
            <a:chOff x="0" y="0"/>
            <a:chExt cx="127000" cy="939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6750" y="3533775"/>
            <a:ext cx="95250" cy="704850"/>
            <a:chOff x="0" y="0"/>
            <a:chExt cx="127000" cy="939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6750" y="4448175"/>
            <a:ext cx="95250" cy="704850"/>
            <a:chOff x="0" y="0"/>
            <a:chExt cx="127000" cy="939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6750" y="5362575"/>
            <a:ext cx="95250" cy="704850"/>
            <a:chOff x="0" y="0"/>
            <a:chExt cx="127000" cy="939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66750" y="6276975"/>
            <a:ext cx="95250" cy="704850"/>
            <a:chOff x="0" y="0"/>
            <a:chExt cx="127000" cy="939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7000" cy="939800"/>
            </a:xfrm>
            <a:custGeom>
              <a:avLst/>
              <a:gdLst/>
              <a:ahLst/>
              <a:cxnLst/>
              <a:rect r="r" b="b" t="t" l="l"/>
              <a:pathLst>
                <a:path h="9398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27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7700" y="8648700"/>
            <a:ext cx="16992600" cy="590550"/>
            <a:chOff x="0" y="0"/>
            <a:chExt cx="22656800" cy="787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56800" cy="787400"/>
            </a:xfrm>
            <a:custGeom>
              <a:avLst/>
              <a:gdLst/>
              <a:ahLst/>
              <a:cxnLst/>
              <a:rect r="r" b="b" t="t" l="l"/>
              <a:pathLst>
                <a:path h="787400" w="22656800">
                  <a:moveTo>
                    <a:pt x="8543" y="0"/>
                  </a:moveTo>
                  <a:lnTo>
                    <a:pt x="22648258" y="0"/>
                  </a:lnTo>
                  <a:cubicBezTo>
                    <a:pt x="22652975" y="0"/>
                    <a:pt x="22656800" y="3825"/>
                    <a:pt x="22656800" y="8543"/>
                  </a:cubicBezTo>
                  <a:lnTo>
                    <a:pt x="22656800" y="778857"/>
                  </a:lnTo>
                  <a:cubicBezTo>
                    <a:pt x="22656800" y="783575"/>
                    <a:pt x="22652975" y="787400"/>
                    <a:pt x="22648258" y="787400"/>
                  </a:cubicBezTo>
                  <a:lnTo>
                    <a:pt x="8543" y="787400"/>
                  </a:lnTo>
                  <a:cubicBezTo>
                    <a:pt x="3825" y="787400"/>
                    <a:pt x="0" y="783575"/>
                    <a:pt x="0" y="778857"/>
                  </a:cubicBezTo>
                  <a:lnTo>
                    <a:pt x="0" y="8543"/>
                  </a:lnTo>
                  <a:cubicBezTo>
                    <a:pt x="0" y="3825"/>
                    <a:pt x="3825" y="0"/>
                    <a:pt x="8543" y="0"/>
                  </a:cubicBezTo>
                  <a:close/>
                </a:path>
              </a:pathLst>
            </a:custGeom>
            <a:solidFill>
              <a:srgbClr val="1F2937"/>
            </a:solidFill>
            <a:ln w="9525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568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7700" y="447675"/>
            <a:ext cx="16954500" cy="64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799" spc="-96" b="true">
                <a:solidFill>
                  <a:srgbClr val="FAFAF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Technical approach and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700" y="1238250"/>
            <a:ext cx="16954500" cy="28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4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8C52E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Four data flows across React, FastAPI, Qdrant, NetworkX and MongoDB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0412" y="8839200"/>
            <a:ext cx="1809750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b="true" sz="1546" spc="-30" strike="noStrike" u="none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all-MiniLM-L6-v2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412" y="8839200"/>
            <a:ext cx="1234838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Tailwind CSS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2612" y="8839200"/>
            <a:ext cx="1004570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TypeScript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97188" y="8839200"/>
            <a:ext cx="946292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MongoDB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00888" y="8839200"/>
            <a:ext cx="1032337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React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25588" y="8839200"/>
            <a:ext cx="956971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NetworkX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82162" y="8839200"/>
            <a:ext cx="818750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Pydantic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9762" y="8839200"/>
            <a:ext cx="966125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shadcn/ui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48688" y="8839200"/>
            <a:ext cx="710838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FastAPI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9262" y="8839200"/>
            <a:ext cx="661916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Qdrant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0112" y="8839200"/>
            <a:ext cx="537731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59262" y="8839200"/>
            <a:ext cx="430327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BEIR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71838" y="8839200"/>
            <a:ext cx="375913" cy="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3"/>
              </a:lnSpc>
            </a:pPr>
            <a:r>
              <a:rPr lang="en-US" b="true" sz="1546" spc="-30">
                <a:solidFill>
                  <a:srgbClr val="FAFAFA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7700" y="1809750"/>
            <a:ext cx="16992600" cy="1600200"/>
            <a:chOff x="0" y="0"/>
            <a:chExt cx="22656800" cy="2133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656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2656800">
                  <a:moveTo>
                    <a:pt x="9966" y="0"/>
                  </a:moveTo>
                  <a:lnTo>
                    <a:pt x="22646833" y="0"/>
                  </a:lnTo>
                  <a:cubicBezTo>
                    <a:pt x="22649476" y="0"/>
                    <a:pt x="22652013" y="1050"/>
                    <a:pt x="22653881" y="2919"/>
                  </a:cubicBezTo>
                  <a:cubicBezTo>
                    <a:pt x="22655750" y="4788"/>
                    <a:pt x="22656800" y="7323"/>
                    <a:pt x="22656800" y="9966"/>
                  </a:cubicBezTo>
                  <a:lnTo>
                    <a:pt x="22656800" y="2123634"/>
                  </a:lnTo>
                  <a:cubicBezTo>
                    <a:pt x="22656800" y="2126277"/>
                    <a:pt x="22655750" y="2128812"/>
                    <a:pt x="22653881" y="2130681"/>
                  </a:cubicBezTo>
                  <a:cubicBezTo>
                    <a:pt x="22652013" y="2132550"/>
                    <a:pt x="22649476" y="2133600"/>
                    <a:pt x="22646833" y="2133600"/>
                  </a:cubicBezTo>
                  <a:lnTo>
                    <a:pt x="9966" y="2133600"/>
                  </a:lnTo>
                  <a:cubicBezTo>
                    <a:pt x="7323" y="2133600"/>
                    <a:pt x="4788" y="2132550"/>
                    <a:pt x="2919" y="2130681"/>
                  </a:cubicBezTo>
                  <a:cubicBezTo>
                    <a:pt x="1050" y="2128812"/>
                    <a:pt x="0" y="2126277"/>
                    <a:pt x="0" y="2123634"/>
                  </a:cubicBezTo>
                  <a:lnTo>
                    <a:pt x="0" y="9966"/>
                  </a:lnTo>
                  <a:cubicBezTo>
                    <a:pt x="0" y="7323"/>
                    <a:pt x="1050" y="4788"/>
                    <a:pt x="2919" y="2919"/>
                  </a:cubicBezTo>
                  <a:cubicBezTo>
                    <a:pt x="4788" y="1050"/>
                    <a:pt x="7323" y="0"/>
                    <a:pt x="9966" y="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6568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7700" y="1809750"/>
            <a:ext cx="2095500" cy="1600200"/>
            <a:chOff x="0" y="0"/>
            <a:chExt cx="2794000" cy="2133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94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052782"/>
                  </a:lnTo>
                  <a:cubicBezTo>
                    <a:pt x="2794000" y="2074216"/>
                    <a:pt x="2785485" y="2094773"/>
                    <a:pt x="2770329" y="2109929"/>
                  </a:cubicBezTo>
                  <a:cubicBezTo>
                    <a:pt x="2755173" y="2125085"/>
                    <a:pt x="2734616" y="2133600"/>
                    <a:pt x="2713182" y="2133600"/>
                  </a:cubicBezTo>
                  <a:lnTo>
                    <a:pt x="80818" y="2133600"/>
                  </a:lnTo>
                  <a:cubicBezTo>
                    <a:pt x="59384" y="2133600"/>
                    <a:pt x="38827" y="2125085"/>
                    <a:pt x="23671" y="2109929"/>
                  </a:cubicBezTo>
                  <a:cubicBezTo>
                    <a:pt x="8515" y="2094773"/>
                    <a:pt x="0" y="2074216"/>
                    <a:pt x="0" y="20527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7940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52750" y="2085975"/>
            <a:ext cx="2495550" cy="1047750"/>
            <a:chOff x="0" y="0"/>
            <a:chExt cx="33274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943600" y="2085975"/>
            <a:ext cx="2495550" cy="1047750"/>
            <a:chOff x="0" y="0"/>
            <a:chExt cx="33274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34450" y="2085975"/>
            <a:ext cx="2495550" cy="1047750"/>
            <a:chOff x="0" y="0"/>
            <a:chExt cx="33274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25300" y="2085975"/>
            <a:ext cx="2495550" cy="1047750"/>
            <a:chOff x="0" y="0"/>
            <a:chExt cx="3327400" cy="139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916150" y="2085975"/>
            <a:ext cx="2495550" cy="1047750"/>
            <a:chOff x="0" y="0"/>
            <a:chExt cx="3327400" cy="1397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7700" y="3524250"/>
            <a:ext cx="16992600" cy="1600200"/>
            <a:chOff x="0" y="0"/>
            <a:chExt cx="22656800" cy="2133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56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2656800">
                  <a:moveTo>
                    <a:pt x="9966" y="0"/>
                  </a:moveTo>
                  <a:lnTo>
                    <a:pt x="22646833" y="0"/>
                  </a:lnTo>
                  <a:cubicBezTo>
                    <a:pt x="22649476" y="0"/>
                    <a:pt x="22652013" y="1050"/>
                    <a:pt x="22653881" y="2919"/>
                  </a:cubicBezTo>
                  <a:cubicBezTo>
                    <a:pt x="22655750" y="4788"/>
                    <a:pt x="22656800" y="7323"/>
                    <a:pt x="22656800" y="9966"/>
                  </a:cubicBezTo>
                  <a:lnTo>
                    <a:pt x="22656800" y="2123634"/>
                  </a:lnTo>
                  <a:cubicBezTo>
                    <a:pt x="22656800" y="2126277"/>
                    <a:pt x="22655750" y="2128812"/>
                    <a:pt x="22653881" y="2130681"/>
                  </a:cubicBezTo>
                  <a:cubicBezTo>
                    <a:pt x="22652013" y="2132550"/>
                    <a:pt x="22649476" y="2133600"/>
                    <a:pt x="22646833" y="2133600"/>
                  </a:cubicBezTo>
                  <a:lnTo>
                    <a:pt x="9966" y="2133600"/>
                  </a:lnTo>
                  <a:cubicBezTo>
                    <a:pt x="7323" y="2133600"/>
                    <a:pt x="4788" y="2132550"/>
                    <a:pt x="2919" y="2130681"/>
                  </a:cubicBezTo>
                  <a:cubicBezTo>
                    <a:pt x="1050" y="2128812"/>
                    <a:pt x="0" y="2126277"/>
                    <a:pt x="0" y="2123634"/>
                  </a:cubicBezTo>
                  <a:lnTo>
                    <a:pt x="0" y="9966"/>
                  </a:lnTo>
                  <a:cubicBezTo>
                    <a:pt x="0" y="7323"/>
                    <a:pt x="1050" y="4788"/>
                    <a:pt x="2919" y="2919"/>
                  </a:cubicBezTo>
                  <a:cubicBezTo>
                    <a:pt x="4788" y="1050"/>
                    <a:pt x="7323" y="0"/>
                    <a:pt x="9966" y="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26568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7700" y="3524250"/>
            <a:ext cx="2095500" cy="1600200"/>
            <a:chOff x="0" y="0"/>
            <a:chExt cx="2794000" cy="2133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94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052782"/>
                  </a:lnTo>
                  <a:cubicBezTo>
                    <a:pt x="2794000" y="2074216"/>
                    <a:pt x="2785485" y="2094773"/>
                    <a:pt x="2770329" y="2109929"/>
                  </a:cubicBezTo>
                  <a:cubicBezTo>
                    <a:pt x="2755173" y="2125085"/>
                    <a:pt x="2734616" y="2133600"/>
                    <a:pt x="2713182" y="2133600"/>
                  </a:cubicBezTo>
                  <a:lnTo>
                    <a:pt x="80818" y="2133600"/>
                  </a:lnTo>
                  <a:cubicBezTo>
                    <a:pt x="59384" y="2133600"/>
                    <a:pt x="38827" y="2125085"/>
                    <a:pt x="23671" y="2109929"/>
                  </a:cubicBezTo>
                  <a:cubicBezTo>
                    <a:pt x="8515" y="2094773"/>
                    <a:pt x="0" y="2074216"/>
                    <a:pt x="0" y="20527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7940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952750" y="3800475"/>
            <a:ext cx="2495550" cy="1047750"/>
            <a:chOff x="0" y="0"/>
            <a:chExt cx="3327400" cy="1397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943600" y="3800475"/>
            <a:ext cx="2495550" cy="1047750"/>
            <a:chOff x="0" y="0"/>
            <a:chExt cx="3327400" cy="1397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934450" y="3800475"/>
            <a:ext cx="2495550" cy="1047750"/>
            <a:chOff x="0" y="0"/>
            <a:chExt cx="3327400" cy="139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925300" y="3800475"/>
            <a:ext cx="2495550" cy="1047750"/>
            <a:chOff x="0" y="0"/>
            <a:chExt cx="3327400" cy="1397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916150" y="3800475"/>
            <a:ext cx="2495550" cy="1047750"/>
            <a:chOff x="0" y="0"/>
            <a:chExt cx="3327400" cy="1397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7700" y="5238750"/>
            <a:ext cx="16992600" cy="1600200"/>
            <a:chOff x="0" y="0"/>
            <a:chExt cx="22656800" cy="2133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656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2656800">
                  <a:moveTo>
                    <a:pt x="9966" y="0"/>
                  </a:moveTo>
                  <a:lnTo>
                    <a:pt x="22646833" y="0"/>
                  </a:lnTo>
                  <a:cubicBezTo>
                    <a:pt x="22649476" y="0"/>
                    <a:pt x="22652013" y="1050"/>
                    <a:pt x="22653881" y="2919"/>
                  </a:cubicBezTo>
                  <a:cubicBezTo>
                    <a:pt x="22655750" y="4788"/>
                    <a:pt x="22656800" y="7323"/>
                    <a:pt x="22656800" y="9966"/>
                  </a:cubicBezTo>
                  <a:lnTo>
                    <a:pt x="22656800" y="2123634"/>
                  </a:lnTo>
                  <a:cubicBezTo>
                    <a:pt x="22656800" y="2126277"/>
                    <a:pt x="22655750" y="2128812"/>
                    <a:pt x="22653881" y="2130681"/>
                  </a:cubicBezTo>
                  <a:cubicBezTo>
                    <a:pt x="22652013" y="2132550"/>
                    <a:pt x="22649476" y="2133600"/>
                    <a:pt x="22646833" y="2133600"/>
                  </a:cubicBezTo>
                  <a:lnTo>
                    <a:pt x="9966" y="2133600"/>
                  </a:lnTo>
                  <a:cubicBezTo>
                    <a:pt x="7323" y="2133600"/>
                    <a:pt x="4788" y="2132550"/>
                    <a:pt x="2919" y="2130681"/>
                  </a:cubicBezTo>
                  <a:cubicBezTo>
                    <a:pt x="1050" y="2128812"/>
                    <a:pt x="0" y="2126277"/>
                    <a:pt x="0" y="2123634"/>
                  </a:cubicBezTo>
                  <a:lnTo>
                    <a:pt x="0" y="9966"/>
                  </a:lnTo>
                  <a:cubicBezTo>
                    <a:pt x="0" y="7323"/>
                    <a:pt x="1050" y="4788"/>
                    <a:pt x="2919" y="2919"/>
                  </a:cubicBezTo>
                  <a:cubicBezTo>
                    <a:pt x="4788" y="1050"/>
                    <a:pt x="7323" y="0"/>
                    <a:pt x="9966" y="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6568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7700" y="5238750"/>
            <a:ext cx="2095500" cy="1600200"/>
            <a:chOff x="0" y="0"/>
            <a:chExt cx="2794000" cy="2133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94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052782"/>
                  </a:lnTo>
                  <a:cubicBezTo>
                    <a:pt x="2794000" y="2074216"/>
                    <a:pt x="2785485" y="2094773"/>
                    <a:pt x="2770329" y="2109929"/>
                  </a:cubicBezTo>
                  <a:cubicBezTo>
                    <a:pt x="2755173" y="2125085"/>
                    <a:pt x="2734616" y="2133600"/>
                    <a:pt x="2713182" y="2133600"/>
                  </a:cubicBezTo>
                  <a:lnTo>
                    <a:pt x="80818" y="2133600"/>
                  </a:lnTo>
                  <a:cubicBezTo>
                    <a:pt x="59384" y="2133600"/>
                    <a:pt x="38827" y="2125085"/>
                    <a:pt x="23671" y="2109929"/>
                  </a:cubicBezTo>
                  <a:cubicBezTo>
                    <a:pt x="8515" y="2094773"/>
                    <a:pt x="0" y="2074216"/>
                    <a:pt x="0" y="20527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7940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952750" y="5514975"/>
            <a:ext cx="2495550" cy="1047750"/>
            <a:chOff x="0" y="0"/>
            <a:chExt cx="3327400" cy="1397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943600" y="5514975"/>
            <a:ext cx="2495550" cy="1047750"/>
            <a:chOff x="0" y="0"/>
            <a:chExt cx="3327400" cy="1397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934450" y="5514975"/>
            <a:ext cx="2495550" cy="1047750"/>
            <a:chOff x="0" y="0"/>
            <a:chExt cx="3327400" cy="1397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925300" y="5514975"/>
            <a:ext cx="2495550" cy="1047750"/>
            <a:chOff x="0" y="0"/>
            <a:chExt cx="3327400" cy="1397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916150" y="5514975"/>
            <a:ext cx="2495550" cy="1047750"/>
            <a:chOff x="0" y="0"/>
            <a:chExt cx="3327400" cy="1397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47700" y="6953250"/>
            <a:ext cx="16992600" cy="1600200"/>
            <a:chOff x="0" y="0"/>
            <a:chExt cx="22656800" cy="2133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656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2656800">
                  <a:moveTo>
                    <a:pt x="9966" y="0"/>
                  </a:moveTo>
                  <a:lnTo>
                    <a:pt x="22646833" y="0"/>
                  </a:lnTo>
                  <a:cubicBezTo>
                    <a:pt x="22649476" y="0"/>
                    <a:pt x="22652013" y="1050"/>
                    <a:pt x="22653881" y="2919"/>
                  </a:cubicBezTo>
                  <a:cubicBezTo>
                    <a:pt x="22655750" y="4788"/>
                    <a:pt x="22656800" y="7323"/>
                    <a:pt x="22656800" y="9966"/>
                  </a:cubicBezTo>
                  <a:lnTo>
                    <a:pt x="22656800" y="2123634"/>
                  </a:lnTo>
                  <a:cubicBezTo>
                    <a:pt x="22656800" y="2126277"/>
                    <a:pt x="22655750" y="2128812"/>
                    <a:pt x="22653881" y="2130681"/>
                  </a:cubicBezTo>
                  <a:cubicBezTo>
                    <a:pt x="22652013" y="2132550"/>
                    <a:pt x="22649476" y="2133600"/>
                    <a:pt x="22646833" y="2133600"/>
                  </a:cubicBezTo>
                  <a:lnTo>
                    <a:pt x="9966" y="2133600"/>
                  </a:lnTo>
                  <a:cubicBezTo>
                    <a:pt x="7323" y="2133600"/>
                    <a:pt x="4788" y="2132550"/>
                    <a:pt x="2919" y="2130681"/>
                  </a:cubicBezTo>
                  <a:cubicBezTo>
                    <a:pt x="1050" y="2128812"/>
                    <a:pt x="0" y="2126277"/>
                    <a:pt x="0" y="2123634"/>
                  </a:cubicBezTo>
                  <a:lnTo>
                    <a:pt x="0" y="9966"/>
                  </a:lnTo>
                  <a:cubicBezTo>
                    <a:pt x="0" y="7323"/>
                    <a:pt x="1050" y="4788"/>
                    <a:pt x="2919" y="2919"/>
                  </a:cubicBezTo>
                  <a:cubicBezTo>
                    <a:pt x="4788" y="1050"/>
                    <a:pt x="7323" y="0"/>
                    <a:pt x="9966" y="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26568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47700" y="6953250"/>
            <a:ext cx="2095500" cy="1600200"/>
            <a:chOff x="0" y="0"/>
            <a:chExt cx="2794000" cy="2133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794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052782"/>
                  </a:lnTo>
                  <a:cubicBezTo>
                    <a:pt x="2794000" y="2074216"/>
                    <a:pt x="2785485" y="2094773"/>
                    <a:pt x="2770329" y="2109929"/>
                  </a:cubicBezTo>
                  <a:cubicBezTo>
                    <a:pt x="2755173" y="2125085"/>
                    <a:pt x="2734616" y="2133600"/>
                    <a:pt x="2713182" y="2133600"/>
                  </a:cubicBezTo>
                  <a:lnTo>
                    <a:pt x="80818" y="2133600"/>
                  </a:lnTo>
                  <a:cubicBezTo>
                    <a:pt x="59384" y="2133600"/>
                    <a:pt x="38827" y="2125085"/>
                    <a:pt x="23671" y="2109929"/>
                  </a:cubicBezTo>
                  <a:cubicBezTo>
                    <a:pt x="8515" y="2094773"/>
                    <a:pt x="0" y="2074216"/>
                    <a:pt x="0" y="20527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794000" cy="217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952750" y="7229475"/>
            <a:ext cx="2495550" cy="1047750"/>
            <a:chOff x="0" y="0"/>
            <a:chExt cx="3327400" cy="1397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943600" y="7229475"/>
            <a:ext cx="2495550" cy="1047750"/>
            <a:chOff x="0" y="0"/>
            <a:chExt cx="3327400" cy="1397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934450" y="7229475"/>
            <a:ext cx="2495550" cy="1047750"/>
            <a:chOff x="0" y="0"/>
            <a:chExt cx="3327400" cy="1397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925300" y="7229475"/>
            <a:ext cx="2495550" cy="1047750"/>
            <a:chOff x="0" y="0"/>
            <a:chExt cx="3327400" cy="1397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916150" y="7229475"/>
            <a:ext cx="2495550" cy="1047750"/>
            <a:chOff x="0" y="0"/>
            <a:chExt cx="3327400" cy="13970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27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27400">
                  <a:moveTo>
                    <a:pt x="58168" y="0"/>
                  </a:moveTo>
                  <a:lnTo>
                    <a:pt x="3269232" y="0"/>
                  </a:lnTo>
                  <a:cubicBezTo>
                    <a:pt x="3284659" y="0"/>
                    <a:pt x="3299454" y="6128"/>
                    <a:pt x="3310363" y="17037"/>
                  </a:cubicBezTo>
                  <a:cubicBezTo>
                    <a:pt x="3321272" y="27946"/>
                    <a:pt x="3327400" y="42741"/>
                    <a:pt x="3327400" y="58168"/>
                  </a:cubicBezTo>
                  <a:lnTo>
                    <a:pt x="3327400" y="1338832"/>
                  </a:lnTo>
                  <a:cubicBezTo>
                    <a:pt x="3327400" y="1354259"/>
                    <a:pt x="3321272" y="1369054"/>
                    <a:pt x="3310363" y="1379963"/>
                  </a:cubicBezTo>
                  <a:cubicBezTo>
                    <a:pt x="3299454" y="1390872"/>
                    <a:pt x="3284659" y="1397000"/>
                    <a:pt x="3269232" y="1397000"/>
                  </a:cubicBezTo>
                  <a:lnTo>
                    <a:pt x="58168" y="1397000"/>
                  </a:lnTo>
                  <a:cubicBezTo>
                    <a:pt x="42741" y="1397000"/>
                    <a:pt x="27946" y="1390872"/>
                    <a:pt x="17037" y="1379963"/>
                  </a:cubicBezTo>
                  <a:cubicBezTo>
                    <a:pt x="6128" y="1369054"/>
                    <a:pt x="0" y="1354259"/>
                    <a:pt x="0" y="1338832"/>
                  </a:cubicBezTo>
                  <a:lnTo>
                    <a:pt x="0" y="58168"/>
                  </a:lnTo>
                  <a:cubicBezTo>
                    <a:pt x="0" y="42741"/>
                    <a:pt x="6128" y="27946"/>
                    <a:pt x="17037" y="17037"/>
                  </a:cubicBezTo>
                  <a:cubicBezTo>
                    <a:pt x="27946" y="6128"/>
                    <a:pt x="42741" y="0"/>
                    <a:pt x="58168" y="0"/>
                  </a:cubicBezTo>
                  <a:close/>
                </a:path>
              </a:pathLst>
            </a:custGeom>
            <a:solidFill>
              <a:srgbClr val="374151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327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505450" y="2495550"/>
            <a:ext cx="381000" cy="228600"/>
            <a:chOff x="0" y="0"/>
            <a:chExt cx="508000" cy="304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496300" y="2495550"/>
            <a:ext cx="381000" cy="228600"/>
            <a:chOff x="0" y="0"/>
            <a:chExt cx="508000" cy="304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487150" y="2495550"/>
            <a:ext cx="381000" cy="228600"/>
            <a:chOff x="0" y="0"/>
            <a:chExt cx="508000" cy="304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478000" y="2495550"/>
            <a:ext cx="381000" cy="228600"/>
            <a:chOff x="0" y="0"/>
            <a:chExt cx="508000" cy="304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505450" y="4210050"/>
            <a:ext cx="381000" cy="228600"/>
            <a:chOff x="0" y="0"/>
            <a:chExt cx="508000" cy="304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496300" y="4210050"/>
            <a:ext cx="381000" cy="228600"/>
            <a:chOff x="0" y="0"/>
            <a:chExt cx="508000" cy="304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1487150" y="4210050"/>
            <a:ext cx="381000" cy="228600"/>
            <a:chOff x="0" y="0"/>
            <a:chExt cx="508000" cy="3048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478000" y="4210050"/>
            <a:ext cx="381000" cy="228600"/>
            <a:chOff x="0" y="0"/>
            <a:chExt cx="508000" cy="304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5505450" y="5924550"/>
            <a:ext cx="381000" cy="228600"/>
            <a:chOff x="0" y="0"/>
            <a:chExt cx="508000" cy="304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496300" y="5924550"/>
            <a:ext cx="381000" cy="228600"/>
            <a:chOff x="0" y="0"/>
            <a:chExt cx="508000" cy="304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1487150" y="5924550"/>
            <a:ext cx="381000" cy="228600"/>
            <a:chOff x="0" y="0"/>
            <a:chExt cx="508000" cy="304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4478000" y="5924550"/>
            <a:ext cx="381000" cy="228600"/>
            <a:chOff x="0" y="0"/>
            <a:chExt cx="508000" cy="304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5505450" y="7639050"/>
            <a:ext cx="381000" cy="228600"/>
            <a:chOff x="0" y="0"/>
            <a:chExt cx="508000" cy="304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8496300" y="7639050"/>
            <a:ext cx="381000" cy="228600"/>
            <a:chOff x="0" y="0"/>
            <a:chExt cx="508000" cy="3048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1487150" y="7639050"/>
            <a:ext cx="381000" cy="228600"/>
            <a:chOff x="0" y="0"/>
            <a:chExt cx="508000" cy="3048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478000" y="7639050"/>
            <a:ext cx="381000" cy="228600"/>
            <a:chOff x="0" y="0"/>
            <a:chExt cx="508000" cy="3048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0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8000">
                  <a:moveTo>
                    <a:pt x="0" y="101600"/>
                  </a:moveTo>
                  <a:lnTo>
                    <a:pt x="304800" y="101600"/>
                  </a:lnTo>
                  <a:lnTo>
                    <a:pt x="304800" y="0"/>
                  </a:lnTo>
                  <a:lnTo>
                    <a:pt x="508000" y="152400"/>
                  </a:lnTo>
                  <a:lnTo>
                    <a:pt x="304800" y="304800"/>
                  </a:lnTo>
                  <a:lnTo>
                    <a:pt x="3048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080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695325" y="2409825"/>
            <a:ext cx="2000250" cy="2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Ingestion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3105150" y="2219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Upload memory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3105150" y="2524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React dashboard to FastAPI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6096000" y="2219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Embed text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6096000" y="2524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all-MiniLM-L6-v2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086850" y="2219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Assign to module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086850" y="2524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NetworkX module hierarchy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2077700" y="2219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Store vectors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2077700" y="25241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Qdrant: memories + module profiles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5068550" y="2219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Record metadata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5068550" y="2524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MongoDB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695325" y="4124325"/>
            <a:ext cx="2000250" cy="2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Query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3105150" y="3933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Ask a question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3105150" y="42386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Query Playground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6096000" y="3933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Embed query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6096000" y="42386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Same encoder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9086850" y="3933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Choose strategy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9086850" y="4238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Global, fixed graph, progressive, soft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2077700" y="3933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Route over graph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2077700" y="4238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NetworkX picks candidate modules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5068550" y="3933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Search and rank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5068550" y="4238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Qdrant filtered or global search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695325" y="5838825"/>
            <a:ext cx="2000250" cy="2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Adaptation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3105150" y="5648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Usage signals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3105150" y="59531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Query events and co-access in MongoDB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6096000" y="5648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Detect change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6096000" y="5953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Split, merge or shortcut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9086850" y="5648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Validate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9086850" y="59531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Benchmark in a sandbox first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2077700" y="5648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Commit or reject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12077700" y="59531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Checksummed architecture version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5068550" y="56483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Rollback ready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15068550" y="5953125"/>
            <a:ext cx="2209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Restore any earlier version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695325" y="7553325"/>
            <a:ext cx="2000250" cy="2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Benchmarking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3105150" y="7362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BEIR datasets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3105150" y="7667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SciFact, NFCorpus, ArguAna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6096000" y="7362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Run strategies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6096000" y="7667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BM25 + four dense strategies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086850" y="7362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Paired statistics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9086850" y="7667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Bootstrap CIs, frozen baselines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2077700" y="7362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Benchmarks page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2077700" y="7667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Results shown in the dashboard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5068550" y="7362825"/>
            <a:ext cx="22098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Validation gate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5068550" y="7667625"/>
            <a:ext cx="2209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Same harness checks adaptation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571500" y="9658350"/>
            <a:ext cx="476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MORPHE   |   4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16163925" y="9658350"/>
            <a:ext cx="1333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PS 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19300" y="1428750"/>
            <a:ext cx="571500" cy="7905750"/>
            <a:chOff x="0" y="0"/>
            <a:chExt cx="762000" cy="1054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10541000"/>
            </a:xfrm>
            <a:custGeom>
              <a:avLst/>
              <a:gdLst/>
              <a:ahLst/>
              <a:cxnLst/>
              <a:rect r="r" b="b" t="t" l="l"/>
              <a:pathLst>
                <a:path h="10541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10541000"/>
                  </a:lnTo>
                  <a:lnTo>
                    <a:pt x="0" y="1054100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1057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1194" y="529862"/>
            <a:ext cx="10816546" cy="82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2"/>
              </a:lnSpc>
            </a:pPr>
            <a:r>
              <a:rPr lang="en-US" sz="5484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Prototype status, results and risks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71500" y="8096250"/>
            <a:ext cx="2133600" cy="1143000"/>
          </a:xfrm>
          <a:custGeom>
            <a:avLst/>
            <a:gdLst/>
            <a:ahLst/>
            <a:cxnLst/>
            <a:rect r="r" b="b" t="t" l="l"/>
            <a:pathLst>
              <a:path h="1143000" w="2133600">
                <a:moveTo>
                  <a:pt x="0" y="0"/>
                </a:moveTo>
                <a:lnTo>
                  <a:pt x="2133600" y="0"/>
                </a:lnTo>
                <a:lnTo>
                  <a:pt x="21336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09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2000" y="8172450"/>
            <a:ext cx="714031" cy="48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64" b="true">
                <a:solidFill>
                  <a:srgbClr val="1580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186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838450" y="8096250"/>
            <a:ext cx="2133600" cy="1143000"/>
          </a:xfrm>
          <a:custGeom>
            <a:avLst/>
            <a:gdLst/>
            <a:ahLst/>
            <a:cxnLst/>
            <a:rect r="r" b="b" t="t" l="l"/>
            <a:pathLst>
              <a:path h="1143000" w="2133600">
                <a:moveTo>
                  <a:pt x="0" y="0"/>
                </a:moveTo>
                <a:lnTo>
                  <a:pt x="2133600" y="0"/>
                </a:lnTo>
                <a:lnTo>
                  <a:pt x="21336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423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28950" y="8172450"/>
            <a:ext cx="476021" cy="48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64" b="true">
                <a:solidFill>
                  <a:srgbClr val="1580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105400" y="8096250"/>
            <a:ext cx="2133600" cy="1143000"/>
          </a:xfrm>
          <a:custGeom>
            <a:avLst/>
            <a:gdLst/>
            <a:ahLst/>
            <a:cxnLst/>
            <a:rect r="r" b="b" t="t" l="l"/>
            <a:pathLst>
              <a:path h="1143000" w="2133600">
                <a:moveTo>
                  <a:pt x="0" y="0"/>
                </a:moveTo>
                <a:lnTo>
                  <a:pt x="2133600" y="0"/>
                </a:lnTo>
                <a:lnTo>
                  <a:pt x="21336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423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72350" y="8096250"/>
            <a:ext cx="2133600" cy="1143000"/>
          </a:xfrm>
          <a:custGeom>
            <a:avLst/>
            <a:gdLst/>
            <a:ahLst/>
            <a:cxnLst/>
            <a:rect r="r" b="b" t="t" l="l"/>
            <a:pathLst>
              <a:path h="1143000" w="2133600">
                <a:moveTo>
                  <a:pt x="0" y="0"/>
                </a:moveTo>
                <a:lnTo>
                  <a:pt x="2133600" y="0"/>
                </a:lnTo>
                <a:lnTo>
                  <a:pt x="21336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42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87835" y="1589657"/>
            <a:ext cx="6667500" cy="27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6"/>
              </a:lnSpc>
              <a:spcBef>
                <a:spcPct val="0"/>
              </a:spcBef>
            </a:pPr>
            <a:r>
              <a:rPr lang="en-US" b="true" sz="1863" spc="-37" strike="noStrike" u="none">
                <a:solidFill>
                  <a:srgbClr val="6953B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nDCG@10 comparison (test split)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789330" y="1924030"/>
            <a:ext cx="7853340" cy="2579949"/>
          </a:xfrm>
          <a:custGeom>
            <a:avLst/>
            <a:gdLst/>
            <a:ahLst/>
            <a:cxnLst/>
            <a:rect r="r" b="b" t="t" l="l"/>
            <a:pathLst>
              <a:path h="2579949" w="7853340">
                <a:moveTo>
                  <a:pt x="0" y="0"/>
                </a:moveTo>
                <a:lnTo>
                  <a:pt x="7853340" y="0"/>
                </a:lnTo>
                <a:lnTo>
                  <a:pt x="785334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42513" y="2608258"/>
            <a:ext cx="559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0.5507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62333" y="2608258"/>
            <a:ext cx="559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03"/>
              </a:lnSpc>
              <a:spcBef>
                <a:spcPct val="0"/>
              </a:spcBef>
            </a:pPr>
            <a:r>
              <a:rPr lang="en-US" b="true" sz="1335" spc="-26" strike="noStrike" u="non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0.6324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2333" y="3255874"/>
            <a:ext cx="559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0.3143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35691" y="3255874"/>
            <a:ext cx="563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0.3151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789330" y="4493047"/>
            <a:ext cx="7853340" cy="2579949"/>
          </a:xfrm>
          <a:custGeom>
            <a:avLst/>
            <a:gdLst/>
            <a:ahLst/>
            <a:cxnLst/>
            <a:rect r="r" b="b" t="t" l="l"/>
            <a:pathLst>
              <a:path h="2579949" w="7853340">
                <a:moveTo>
                  <a:pt x="0" y="0"/>
                </a:moveTo>
                <a:lnTo>
                  <a:pt x="7853340" y="0"/>
                </a:lnTo>
                <a:lnTo>
                  <a:pt x="785334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08198" y="4729108"/>
            <a:ext cx="1806781" cy="33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spc="-59" b="true">
                <a:solidFill>
                  <a:srgbClr val="C291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9945" y="5114676"/>
            <a:ext cx="6632060" cy="99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-44" strike="noStrike" u="none">
                <a:solidFill>
                  <a:srgbClr val="2B2B2B"/>
                </a:solidFill>
                <a:latin typeface="HK Grotesk"/>
                <a:ea typeface="HK Grotesk"/>
                <a:cs typeface="HK Grotesk"/>
                <a:sym typeface="HK Grotesk"/>
              </a:rPr>
              <a:t>Graph structure makes memory inspectable and safe to change, but graph-restricted retrieval did not beat global dense search. Fixed graph lowered nDCG@10 on all three datasets (-0.094 / -0.039 / -0.010); progressive and soft routing recover most of it, not more.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789330" y="6854356"/>
            <a:ext cx="7853340" cy="2361309"/>
          </a:xfrm>
          <a:custGeom>
            <a:avLst/>
            <a:gdLst/>
            <a:ahLst/>
            <a:cxnLst/>
            <a:rect r="r" b="b" t="t" l="l"/>
            <a:pathLst>
              <a:path h="2361309" w="7853340">
                <a:moveTo>
                  <a:pt x="0" y="0"/>
                </a:moveTo>
                <a:lnTo>
                  <a:pt x="7853340" y="0"/>
                </a:lnTo>
                <a:lnTo>
                  <a:pt x="7853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01337" y="7192290"/>
            <a:ext cx="2492843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 b="true">
                <a:solidFill>
                  <a:srgbClr val="B4530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Risks and mitigations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72359" y="9722511"/>
            <a:ext cx="4762500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3"/>
              </a:lnSpc>
              <a:spcBef>
                <a:spcPct val="0"/>
              </a:spcBef>
            </a:pPr>
            <a:r>
              <a:rPr lang="en-US" b="true" sz="1986" spc="794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MORPHE   |   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537952" y="9642013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830614" y="2081128"/>
            <a:ext cx="1015141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Global dense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04972" y="2081128"/>
            <a:ext cx="919226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Fixed graph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25090" y="2081128"/>
            <a:ext cx="889447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Progressive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71426" y="2081128"/>
            <a:ext cx="916734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Soft routing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20431" y="2517893"/>
            <a:ext cx="58348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03"/>
              </a:lnSpc>
              <a:spcBef>
                <a:spcPct val="0"/>
              </a:spcBef>
            </a:pPr>
            <a:r>
              <a:rPr lang="en-US" b="true" sz="1335" spc="-26" strike="noStrike" u="non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SciFact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22652" y="2608258"/>
            <a:ext cx="563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6953B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0.6451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08902" y="2608258"/>
            <a:ext cx="563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0.6429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18087" y="2758866"/>
            <a:ext cx="817868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4" spc="-22" b="tru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(exploratory)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2000" y="872490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0"/>
              </a:lnSpc>
              <a:spcBef>
                <a:spcPct val="0"/>
              </a:spcBef>
            </a:pPr>
            <a:r>
              <a:rPr lang="en-US" b="true" sz="1125" spc="-22" strike="noStrike" u="non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Backend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28950" y="872490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0"/>
              </a:lnSpc>
              <a:spcBef>
                <a:spcPct val="0"/>
              </a:spcBef>
            </a:pPr>
            <a:r>
              <a:rPr lang="en-US" b="true" sz="1125" spc="-22" strike="noStrike" u="non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Frontend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95900" y="872490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0"/>
              </a:lnSpc>
              <a:spcBef>
                <a:spcPct val="0"/>
              </a:spcBef>
            </a:pPr>
            <a:r>
              <a:rPr lang="en-US" b="true" sz="1125" spc="-22" strike="noStrike" u="non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End-to-end (Playwright)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62850" y="872490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0"/>
              </a:lnSpc>
              <a:spcBef>
                <a:spcPct val="0"/>
              </a:spcBef>
            </a:pPr>
            <a:r>
              <a:rPr lang="en-US" b="true" sz="1125" spc="-22" strike="noStrike" u="non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Frozen baseline check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18280" y="3135387"/>
            <a:ext cx="798516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NFCorpus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22652" y="3255874"/>
            <a:ext cx="563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6953B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0.3159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42513" y="3255874"/>
            <a:ext cx="55966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26" b="tru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0.2771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17149" y="3376361"/>
            <a:ext cx="911708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22" b="true">
                <a:solidFill>
                  <a:srgbClr val="151B3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(confirmatory)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95900" y="8172450"/>
            <a:ext cx="476021" cy="48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64" b="true">
                <a:solidFill>
                  <a:srgbClr val="1580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62850" y="8172450"/>
            <a:ext cx="238010" cy="48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64" b="true">
                <a:solidFill>
                  <a:srgbClr val="1580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20267" y="3783003"/>
            <a:ext cx="599849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ArguAna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42085" y="3933612"/>
            <a:ext cx="602450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39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0.4989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308475" y="3933612"/>
            <a:ext cx="606455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39" b="true">
                <a:solidFill>
                  <a:srgbClr val="6953B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0.5093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22174" y="3948672"/>
            <a:ext cx="611553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39" b="true">
                <a:solidFill>
                  <a:srgbClr val="151B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0.5088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862331" y="3948672"/>
            <a:ext cx="559849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39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0.5081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2000" y="893445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passing tests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28950" y="893445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passing tests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95900" y="893445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passing tests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62850" y="8934450"/>
            <a:ext cx="1857375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12340" y="3978795"/>
            <a:ext cx="1392531" cy="32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4" spc="-33" b="true">
                <a:solidFill>
                  <a:srgbClr val="2B2B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(internal partition, not an official score)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068685" y="7593396"/>
            <a:ext cx="5758044" cy="2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 b="true">
                <a:solidFill>
                  <a:srgbClr val="161C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Routing misses </a:t>
            </a:r>
            <a:r>
              <a:rPr lang="en-US" sz="1494" spc="-44">
                <a:solidFill>
                  <a:srgbClr val="161C34"/>
                </a:solidFill>
                <a:latin typeface="HK Grotesk"/>
                <a:ea typeface="HK Grotesk"/>
                <a:cs typeface="HK Grotesk"/>
                <a:sym typeface="HK Grotesk"/>
              </a:rPr>
              <a:t>(progressive expansion and soft routing evaluated)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065366" y="7894613"/>
            <a:ext cx="6089937" cy="2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 b="true">
                <a:solidFill>
                  <a:srgbClr val="161C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Retrieval latency </a:t>
            </a:r>
            <a:r>
              <a:rPr lang="en-US" sz="1494" spc="-44">
                <a:solidFill>
                  <a:srgbClr val="161C34"/>
                </a:solidFill>
                <a:latin typeface="HK Grotesk"/>
                <a:ea typeface="HK Grotesk"/>
                <a:cs typeface="HK Grotesk"/>
                <a:sym typeface="HK Grotesk"/>
              </a:rPr>
              <a:t>(graph and vector-store costs measured separately)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056017" y="8210891"/>
            <a:ext cx="7024873" cy="2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 b="true">
                <a:solidFill>
                  <a:srgbClr val="161C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Uncertain adaptation gains </a:t>
            </a:r>
            <a:r>
              <a:rPr lang="en-US" sz="1494" spc="-44">
                <a:solidFill>
                  <a:srgbClr val="161C34"/>
                </a:solidFill>
                <a:latin typeface="HK Grotesk"/>
                <a:ea typeface="HK Grotesk"/>
                <a:cs typeface="HK Grotesk"/>
                <a:sym typeface="HK Grotesk"/>
              </a:rPr>
              <a:t>(benchmark validation before any structural commit)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72545" y="8512108"/>
            <a:ext cx="5372072" cy="2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 b="true">
                <a:solidFill>
                  <a:srgbClr val="161C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consistency </a:t>
            </a:r>
            <a:r>
              <a:rPr lang="en-US" sz="1494" spc="-44">
                <a:solidFill>
                  <a:srgbClr val="161C34"/>
                </a:solidFill>
                <a:latin typeface="HK Grotesk"/>
                <a:ea typeface="HK Grotesk"/>
                <a:cs typeface="HK Grotesk"/>
                <a:sym typeface="HK Grotesk"/>
              </a:rPr>
              <a:t>(versioned state, integrity checks, recovery)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59729" y="8828385"/>
            <a:ext cx="6653703" cy="21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 b="true">
                <a:solidFill>
                  <a:srgbClr val="161C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Limited evaluation scale </a:t>
            </a:r>
            <a:r>
              <a:rPr lang="en-US" sz="1494" spc="-44">
                <a:solidFill>
                  <a:srgbClr val="161C34"/>
                </a:solidFill>
                <a:latin typeface="HK Grotesk"/>
                <a:ea typeface="HK Grotesk"/>
                <a:cs typeface="HK Grotesk"/>
                <a:sym typeface="HK Grotesk"/>
              </a:rPr>
              <a:t>(more datasets, seeds and hardware in future work)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163925" y="9722168"/>
            <a:ext cx="1333500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sz="1986" spc="794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PS 3</a:t>
            </a:r>
          </a:p>
        </p:txBody>
      </p:sp>
      <p:sp>
        <p:nvSpPr>
          <p:cNvPr name="Freeform 61" id="61" descr="MORPHE Benchmarks page, Retrieval strategies results for run strat_01"/>
          <p:cNvSpPr/>
          <p:nvPr/>
        </p:nvSpPr>
        <p:spPr>
          <a:xfrm flipH="false" flipV="false" rot="0">
            <a:off x="571500" y="1619250"/>
            <a:ext cx="5686425" cy="5810250"/>
          </a:xfrm>
          <a:custGeom>
            <a:avLst/>
            <a:gdLst/>
            <a:ahLst/>
            <a:cxnLst/>
            <a:rect r="r" b="b" t="t" l="l"/>
            <a:pathLst>
              <a:path h="5810250" w="5686425">
                <a:moveTo>
                  <a:pt x="0" y="0"/>
                </a:moveTo>
                <a:lnTo>
                  <a:pt x="5686425" y="0"/>
                </a:lnTo>
                <a:lnTo>
                  <a:pt x="5686425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" t="0" r="-3" b="0"/>
            </a:stretch>
          </a:blipFill>
        </p:spPr>
      </p:sp>
      <p:sp>
        <p:nvSpPr>
          <p:cNvPr name="Freeform 62" id="62" descr="MORPHE Overview page in mobile layout"/>
          <p:cNvSpPr/>
          <p:nvPr/>
        </p:nvSpPr>
        <p:spPr>
          <a:xfrm flipH="false" flipV="false" rot="0">
            <a:off x="6572250" y="1619250"/>
            <a:ext cx="2743200" cy="5810250"/>
          </a:xfrm>
          <a:custGeom>
            <a:avLst/>
            <a:gdLst/>
            <a:ahLst/>
            <a:cxnLst/>
            <a:rect r="r" b="b" t="t" l="l"/>
            <a:pathLst>
              <a:path h="5810250" w="2743200">
                <a:moveTo>
                  <a:pt x="0" y="0"/>
                </a:moveTo>
                <a:lnTo>
                  <a:pt x="2743200" y="0"/>
                </a:lnTo>
                <a:lnTo>
                  <a:pt x="27432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93" r="0" b="-93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571500" y="7458075"/>
            <a:ext cx="5715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Benchmarks &gt; Retrieval strategies, saved run strat_01 (crop of the live app)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572250" y="7458075"/>
            <a:ext cx="2857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Overview, mobile layout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48250" y="8458200"/>
            <a:ext cx="8001000" cy="857250"/>
            <a:chOff x="0" y="0"/>
            <a:chExt cx="10668000" cy="114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6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913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668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859250" y="9601200"/>
            <a:ext cx="1333500" cy="571500"/>
            <a:chOff x="0" y="0"/>
            <a:chExt cx="1778000" cy="76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B13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8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5750" y="9601200"/>
            <a:ext cx="6858000" cy="571500"/>
            <a:chOff x="0" y="0"/>
            <a:chExt cx="91440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B13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6915" y="582974"/>
            <a:ext cx="11565491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spc="-178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Impact, future scope and 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856" y="1744636"/>
            <a:ext cx="2250334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EXPECTED IMPACT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6574" y="1924030"/>
            <a:ext cx="3937608" cy="229572"/>
          </a:xfrm>
          <a:custGeom>
            <a:avLst/>
            <a:gdLst/>
            <a:ahLst/>
            <a:cxnLst/>
            <a:rect r="r" b="b" t="t" l="l"/>
            <a:pathLst>
              <a:path h="229572" w="3937608">
                <a:moveTo>
                  <a:pt x="0" y="0"/>
                </a:moveTo>
                <a:lnTo>
                  <a:pt x="3937608" y="0"/>
                </a:lnTo>
                <a:lnTo>
                  <a:pt x="393760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4237" y="2448907"/>
            <a:ext cx="3512194" cy="347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More adaptable memory organization for long-running agents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Better inspection of how memory relationships influence retrieval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Evidence-based decisions</a:t>
            </a: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about graph structure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Recoverable architecture changes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reproducible framework for</a:t>
            </a: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comparing retrieval strategies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72065" y="1744636"/>
            <a:ext cx="3033374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SCALABILITY DIRECTIONS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779818" y="1924030"/>
            <a:ext cx="3937608" cy="229572"/>
          </a:xfrm>
          <a:custGeom>
            <a:avLst/>
            <a:gdLst/>
            <a:ahLst/>
            <a:cxnLst/>
            <a:rect r="r" b="b" t="t" l="l"/>
            <a:pathLst>
              <a:path h="229572" w="3937608">
                <a:moveTo>
                  <a:pt x="0" y="0"/>
                </a:moveTo>
                <a:lnTo>
                  <a:pt x="3937608" y="0"/>
                </a:lnTo>
                <a:lnTo>
                  <a:pt x="393760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894880" y="2448907"/>
            <a:ext cx="3430788" cy="32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Larger datasets and longer</a:t>
            </a: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agent memory workloads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Multiple embedding models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Global dense versus hybrid versus</a:t>
            </a: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graph-guided retrieval on larger corpora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Better routing calibration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Find when graph relationships</a:t>
            </a:r>
          </a:p>
          <a:p>
            <a:pPr algn="l">
              <a:lnSpc>
                <a:spcPts val="2165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really beat dense search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9284" y="1744636"/>
            <a:ext cx="1220782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ROADMAP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25244" y="1924030"/>
            <a:ext cx="8498670" cy="229572"/>
          </a:xfrm>
          <a:custGeom>
            <a:avLst/>
            <a:gdLst/>
            <a:ahLst/>
            <a:cxnLst/>
            <a:rect r="r" b="b" t="t" l="l"/>
            <a:pathLst>
              <a:path h="229572" w="8498670">
                <a:moveTo>
                  <a:pt x="0" y="0"/>
                </a:moveTo>
                <a:lnTo>
                  <a:pt x="8498670" y="0"/>
                </a:lnTo>
                <a:lnTo>
                  <a:pt x="8498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25244" y="2350377"/>
            <a:ext cx="2832890" cy="3869923"/>
          </a:xfrm>
          <a:custGeom>
            <a:avLst/>
            <a:gdLst/>
            <a:ahLst/>
            <a:cxnLst/>
            <a:rect r="r" b="b" t="t" l="l"/>
            <a:pathLst>
              <a:path h="3869923" w="2832890">
                <a:moveTo>
                  <a:pt x="0" y="0"/>
                </a:moveTo>
                <a:lnTo>
                  <a:pt x="2832890" y="0"/>
                </a:lnTo>
                <a:lnTo>
                  <a:pt x="2832890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44000" y="2350377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81520" y="3085051"/>
            <a:ext cx="1428453" cy="8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WORKING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PROTOTYPE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(DONE)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5456" y="4228737"/>
            <a:ext cx="2034850" cy="127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Ingestion and retrieval</a:t>
            </a:r>
          </a:p>
          <a:p>
            <a:pPr algn="l">
              <a:lnSpc>
                <a:spcPts val="2629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Interactive graph</a:t>
            </a:r>
          </a:p>
          <a:p>
            <a:pPr algn="l">
              <a:lnSpc>
                <a:spcPts val="2629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Benchmark harness</a:t>
            </a:r>
          </a:p>
          <a:p>
            <a:pPr algn="l">
              <a:lnSpc>
                <a:spcPts val="2629"/>
              </a:lnSpc>
            </a:pPr>
            <a:r>
              <a:rPr lang="en-US" sz="1546" spc="-46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Versioning and recovery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965952" y="2350377"/>
            <a:ext cx="2625072" cy="4514911"/>
          </a:xfrm>
          <a:custGeom>
            <a:avLst/>
            <a:gdLst/>
            <a:ahLst/>
            <a:cxnLst/>
            <a:rect r="r" b="b" t="t" l="l"/>
            <a:pathLst>
              <a:path h="4514911" w="2625072">
                <a:moveTo>
                  <a:pt x="0" y="0"/>
                </a:moveTo>
                <a:lnTo>
                  <a:pt x="2625072" y="0"/>
                </a:lnTo>
                <a:lnTo>
                  <a:pt x="2625072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965952" y="235037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174407" y="3085051"/>
            <a:ext cx="1461597" cy="8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RESEARCH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VALIDATION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(NEXT)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71056" y="4260069"/>
            <a:ext cx="1796786" cy="207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Improve routing policies</a:t>
            </a:r>
          </a:p>
          <a:p>
            <a:pPr algn="l">
              <a:lnSpc>
                <a:spcPts val="1870"/>
              </a:lnSpc>
            </a:pP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Evaluate merges and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shortcut edges on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controlled workloads</a:t>
            </a:r>
          </a:p>
          <a:p>
            <a:pPr algn="l">
              <a:lnSpc>
                <a:spcPts val="1870"/>
              </a:lnSpc>
            </a:pP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Repeated-seed experiments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Larger corpora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580086" y="2350377"/>
            <a:ext cx="2843828" cy="4514911"/>
          </a:xfrm>
          <a:custGeom>
            <a:avLst/>
            <a:gdLst/>
            <a:ahLst/>
            <a:cxnLst/>
            <a:rect r="r" b="b" t="t" l="l"/>
            <a:pathLst>
              <a:path h="4514911" w="2843828">
                <a:moveTo>
                  <a:pt x="0" y="0"/>
                </a:moveTo>
                <a:lnTo>
                  <a:pt x="2843828" y="0"/>
                </a:lnTo>
                <a:lnTo>
                  <a:pt x="2843828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580086" y="2350377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962843" y="3085051"/>
            <a:ext cx="1224277" cy="8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</a:t>
            </a:r>
          </a:p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(EXPLORE)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57721" y="4260069"/>
            <a:ext cx="1736527" cy="184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Workload-aware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memory organization</a:t>
            </a:r>
          </a:p>
          <a:p>
            <a:pPr algn="l">
              <a:lnSpc>
                <a:spcPts val="1870"/>
              </a:lnSpc>
            </a:pP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Efficient retrieval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at scale</a:t>
            </a:r>
          </a:p>
          <a:p>
            <a:pPr algn="l">
              <a:lnSpc>
                <a:spcPts val="1870"/>
              </a:lnSpc>
            </a:pP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Operational safeguards</a:t>
            </a:r>
          </a:p>
          <a:p>
            <a:pPr algn="l">
              <a:lnSpc>
                <a:spcPts val="1870"/>
              </a:lnSpc>
            </a:pPr>
            <a:r>
              <a:rPr lang="en-US" sz="1335" spc="-39" b="true">
                <a:solidFill>
                  <a:srgbClr val="F1F1F1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if justified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320622" y="342171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142574" y="342171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26574" y="6854356"/>
            <a:ext cx="17216096" cy="1289974"/>
          </a:xfrm>
          <a:custGeom>
            <a:avLst/>
            <a:gdLst/>
            <a:ahLst/>
            <a:cxnLst/>
            <a:rect r="r" b="b" t="t" l="l"/>
            <a:pathLst>
              <a:path h="1289974" w="17216096">
                <a:moveTo>
                  <a:pt x="0" y="0"/>
                </a:moveTo>
                <a:lnTo>
                  <a:pt x="17216096" y="0"/>
                </a:lnTo>
                <a:lnTo>
                  <a:pt x="17216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87923" y="7226782"/>
            <a:ext cx="1574885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8361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55271" y="7301963"/>
            <a:ext cx="400259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2"/>
              </a:lnSpc>
              <a:spcBef>
                <a:spcPct val="0"/>
              </a:spcBef>
            </a:pPr>
            <a:r>
              <a:rPr lang="en-US" b="true" sz="1494" spc="-44" strike="noStrike" u="non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BEIR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4998574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285051" y="7301963"/>
            <a:ext cx="1918290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Sentence Transformers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7175196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628969" y="7301963"/>
            <a:ext cx="591409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Qdrant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789330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225130" y="7301963"/>
            <a:ext cx="829157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NetworkX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059732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388151" y="7301963"/>
            <a:ext cx="638006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FastAPI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5017598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5441125" y="7301963"/>
            <a:ext cx="1616376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MORPHE Technical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0" y="9423373"/>
            <a:ext cx="18288000" cy="229572"/>
          </a:xfrm>
          <a:custGeom>
            <a:avLst/>
            <a:gdLst/>
            <a:ahLst/>
            <a:cxnLst/>
            <a:rect r="r" b="b" t="t" l="l"/>
            <a:pathLst>
              <a:path h="229572" w="18288000">
                <a:moveTo>
                  <a:pt x="0" y="0"/>
                </a:moveTo>
                <a:lnTo>
                  <a:pt x="18288000" y="0"/>
                </a:lnTo>
                <a:lnTo>
                  <a:pt x="1828800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572059" y="9757003"/>
            <a:ext cx="4762500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4"/>
              </a:lnSpc>
              <a:spcBef>
                <a:spcPct val="0"/>
              </a:spcBef>
            </a:pPr>
            <a:r>
              <a:rPr lang="en-US" b="true" sz="1986" spc="794" strike="noStrike" u="non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MORPHE   |   6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6537952" y="9642013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0206636" y="7617875"/>
            <a:ext cx="2678586" cy="20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4"/>
              </a:lnSpc>
              <a:spcBef>
                <a:spcPct val="0"/>
              </a:spcBef>
            </a:pPr>
            <a:r>
              <a:rPr lang="en-US" b="true" sz="1441" spc="-42" strike="noStrike" u="sng">
                <a:solidFill>
                  <a:srgbClr val="8361E1"/>
                </a:solidFill>
                <a:latin typeface="HK Grotesk Semi-Bold"/>
                <a:ea typeface="HK Grotesk Semi-Bold"/>
                <a:cs typeface="HK Grotesk Semi-Bold"/>
                <a:sym typeface="HK Grotesk Semi-Bold"/>
                <a:hlinkClick r:id="rId22" tooltip="https://networkx.org/documentation/stable/"/>
              </a:rPr>
              <a:t>networkx.org/documentation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11845" y="7618241"/>
            <a:ext cx="2303793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2"/>
              </a:lnSpc>
              <a:spcBef>
                <a:spcPct val="0"/>
              </a:spcBef>
            </a:pPr>
            <a:r>
              <a:rPr lang="en-US" b="true" sz="1494" spc="-44" strike="noStrike" u="sng">
                <a:solidFill>
                  <a:srgbClr val="8361E1"/>
                </a:solidFill>
                <a:latin typeface="HK Grotesk Semi-Bold"/>
                <a:ea typeface="HK Grotesk Semi-Bold"/>
                <a:cs typeface="HK Grotesk Semi-Bold"/>
                <a:sym typeface="HK Grotesk Semi-Bold"/>
                <a:hlinkClick r:id="rId23" tooltip="https://qdrant.tech/documentation/"/>
              </a:rPr>
              <a:t>qdrant.tech/documentation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36511" y="7618241"/>
            <a:ext cx="2276219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b="true" sz="1494" spc="-44" u="sng">
                <a:solidFill>
                  <a:srgbClr val="8361E1"/>
                </a:solidFill>
                <a:latin typeface="HK Grotesk Semi-Bold"/>
                <a:ea typeface="HK Grotesk Semi-Bold"/>
                <a:cs typeface="HK Grotesk Semi-Bold"/>
                <a:sym typeface="HK Grotesk Semi-Bold"/>
                <a:hlinkClick r:id="rId24" tooltip="https://github.com/beir-cellar/beir"/>
              </a:rPr>
              <a:t>github.com/beir-cellar/beir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436946" y="7618023"/>
            <a:ext cx="2034342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94" spc="-44" b="true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Project Specification v1.0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404578" y="7618241"/>
            <a:ext cx="1674230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2"/>
              </a:lnSpc>
              <a:spcBef>
                <a:spcPct val="0"/>
              </a:spcBef>
            </a:pPr>
            <a:r>
              <a:rPr lang="en-US" b="true" sz="1494" spc="-44" strike="noStrike" u="sng">
                <a:solidFill>
                  <a:srgbClr val="8361E1"/>
                </a:solidFill>
                <a:latin typeface="HK Grotesk Semi-Bold"/>
                <a:ea typeface="HK Grotesk Semi-Bold"/>
                <a:cs typeface="HK Grotesk Semi-Bold"/>
                <a:sym typeface="HK Grotesk Semi-Bold"/>
                <a:hlinkClick r:id="rId25" tooltip="https://fastapi.tiangolo.com"/>
              </a:rPr>
              <a:t>fastapi.tiangolo.com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96767" y="7618241"/>
            <a:ext cx="746734" cy="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b="true" sz="1494" spc="-44" u="sng">
                <a:solidFill>
                  <a:srgbClr val="8361E1"/>
                </a:solidFill>
                <a:latin typeface="HK Grotesk Semi-Bold"/>
                <a:ea typeface="HK Grotesk Semi-Bold"/>
                <a:cs typeface="HK Grotesk Semi-Bold"/>
                <a:sym typeface="HK Grotesk Semi-Bold"/>
                <a:hlinkClick r:id="rId26" tooltip="https://sbert.net"/>
              </a:rPr>
              <a:t>sbert.net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059804" y="9757003"/>
            <a:ext cx="482926" cy="28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59">
                <a:solidFill>
                  <a:srgbClr val="F1F1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PS 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52231" y="2552347"/>
            <a:ext cx="200565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8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38293" y="2552347"/>
            <a:ext cx="200565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8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259012" y="2552347"/>
            <a:ext cx="200565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8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143500" y="8620125"/>
            <a:ext cx="80010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950" b="true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DAHY_AIod2U</dc:identifier>
  <dcterms:modified xsi:type="dcterms:W3CDTF">2011-08-01T06:04:30Z</dcterms:modified>
  <cp:revision>1</cp:revision>
  <dc:title>MORPHE Hackathon</dc:title>
</cp:coreProperties>
</file>